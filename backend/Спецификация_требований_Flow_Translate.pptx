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660" y="-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4F46E5"/>
                </a:solidFill>
              </a:defRPr>
            </a:pPr>
            <a:r>
              <a:t>КУРСОВАЯ РАБОТА / ПРЕЗЕНТАЦИЯ К ЗАЩИТЕ</a:t>
            </a:r>
          </a:p>
          <a:p>
            <a:pPr>
              <a:spcAft>
                <a:spcPts val="1000"/>
              </a:spcAft>
              <a:defRPr sz="4000" b="1">
                <a:solidFill>
                  <a:srgbClr val="1C1A17"/>
                </a:solidFill>
              </a:defRPr>
            </a:pPr>
            <a:r>
              <a:t>Спецификация требований к ПО</a:t>
            </a:r>
          </a:p>
          <a:p>
            <a:pPr>
              <a:defRPr sz="1800">
                <a:solidFill>
                  <a:srgbClr val="736E66"/>
                </a:solidFill>
              </a:defRPr>
            </a:pPr>
            <a:r>
              <a:t>Теоретические стандарты, классификация и реализация в проекте «Flow Translate»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4572000"/>
            <a:ext cx="94183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4709160"/>
            <a:ext cx="337842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1A17"/>
                </a:solidFill>
              </a:defRPr>
            </a:pPr>
            <a:r>
              <a:rPr dirty="0" err="1"/>
              <a:t>Выполнил</a:t>
            </a:r>
            <a:r>
              <a:rPr dirty="0"/>
              <a:t>: </a:t>
            </a:r>
            <a:r>
              <a:rPr lang="ru-RU" dirty="0"/>
              <a:t>Бондарчук Михаил Павлович</a:t>
            </a:r>
            <a:endParaRPr dirty="0"/>
          </a:p>
          <a:p>
            <a:pPr>
              <a:defRPr sz="1200">
                <a:solidFill>
                  <a:srgbClr val="736E66"/>
                </a:solidFill>
              </a:defRPr>
            </a:pPr>
            <a:r>
              <a:rPr dirty="0" err="1"/>
              <a:t>Учебная</a:t>
            </a:r>
            <a:r>
              <a:rPr dirty="0"/>
              <a:t> </a:t>
            </a:r>
            <a:r>
              <a:rPr dirty="0" err="1"/>
              <a:t>группа</a:t>
            </a:r>
            <a:r>
              <a:rPr dirty="0"/>
              <a:t>: </a:t>
            </a:r>
            <a:r>
              <a:rPr lang="ru-RU" dirty="0"/>
              <a:t>ПО-2400</a:t>
            </a:r>
            <a:r>
              <a:rPr dirty="0"/>
              <a:t>  |  2026 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ТЕМА: СПЕЦИФИКАЦИЯ ТРЕБОВАНИЙ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A17"/>
                </a:solidFill>
              </a:defRPr>
            </a:pPr>
            <a:r>
              <a:t>Содержание и ключевые вопросы исследования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9966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874520"/>
            <a:ext cx="9418320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C1A17"/>
                </a:solidFill>
              </a:defRPr>
            </a:pP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доклада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rPr sz="1600" dirty="0"/>
              <a:t>•  </a:t>
            </a:r>
            <a:r>
              <a:rPr sz="1600" dirty="0" err="1"/>
              <a:t>Вопрос</a:t>
            </a:r>
            <a:r>
              <a:rPr sz="1600" dirty="0"/>
              <a:t> 1: </a:t>
            </a:r>
            <a:r>
              <a:rPr sz="1600" dirty="0" err="1"/>
              <a:t>Определение</a:t>
            </a:r>
            <a:r>
              <a:rPr sz="1600" dirty="0"/>
              <a:t> и </a:t>
            </a:r>
            <a:r>
              <a:rPr sz="1600" dirty="0" err="1"/>
              <a:t>роль</a:t>
            </a:r>
            <a:r>
              <a:rPr sz="1600" dirty="0"/>
              <a:t> </a:t>
            </a:r>
            <a:r>
              <a:rPr sz="1600" dirty="0" err="1"/>
              <a:t>спецификации</a:t>
            </a:r>
            <a:r>
              <a:rPr sz="1600" dirty="0"/>
              <a:t> </a:t>
            </a:r>
            <a:r>
              <a:rPr sz="1600" dirty="0" err="1"/>
              <a:t>требований</a:t>
            </a:r>
            <a:r>
              <a:rPr sz="1600" dirty="0"/>
              <a:t> в </a:t>
            </a:r>
            <a:r>
              <a:rPr sz="1600" dirty="0" err="1"/>
              <a:t>программной</a:t>
            </a:r>
            <a:r>
              <a:rPr sz="1600" dirty="0"/>
              <a:t> </a:t>
            </a:r>
            <a:r>
              <a:rPr sz="1600" dirty="0" err="1"/>
              <a:t>инженерии</a:t>
            </a:r>
            <a:endParaRPr sz="1600" dirty="0"/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rPr sz="1600" dirty="0"/>
              <a:t>•  </a:t>
            </a:r>
            <a:r>
              <a:rPr sz="1600" dirty="0" err="1"/>
              <a:t>Вопрос</a:t>
            </a:r>
            <a:r>
              <a:rPr sz="1600" dirty="0"/>
              <a:t> 2: </a:t>
            </a:r>
            <a:r>
              <a:rPr sz="1600" dirty="0" err="1"/>
              <a:t>Уровни</a:t>
            </a:r>
            <a:r>
              <a:rPr sz="1600" dirty="0"/>
              <a:t> </a:t>
            </a:r>
            <a:r>
              <a:rPr sz="1600" dirty="0" err="1"/>
              <a:t>требований</a:t>
            </a:r>
            <a:r>
              <a:rPr sz="1600" dirty="0"/>
              <a:t> </a:t>
            </a:r>
            <a:r>
              <a:rPr lang="ru-RU" sz="1600" dirty="0"/>
              <a:t>-</a:t>
            </a:r>
            <a:r>
              <a:rPr sz="1600" dirty="0"/>
              <a:t> </a:t>
            </a:r>
            <a:r>
              <a:rPr sz="1600" dirty="0" err="1"/>
              <a:t>бизнес</a:t>
            </a:r>
            <a:r>
              <a:rPr sz="1600" dirty="0"/>
              <a:t>, </a:t>
            </a:r>
            <a:r>
              <a:rPr sz="1600" dirty="0" err="1"/>
              <a:t>пользовательские</a:t>
            </a:r>
            <a:r>
              <a:rPr sz="1600" dirty="0"/>
              <a:t>, </a:t>
            </a:r>
            <a:r>
              <a:rPr sz="1600" dirty="0" err="1"/>
              <a:t>функциональные</a:t>
            </a:r>
            <a:r>
              <a:rPr sz="1600" dirty="0"/>
              <a:t> и NFR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rPr sz="1600" dirty="0"/>
              <a:t>•  </a:t>
            </a:r>
            <a:r>
              <a:rPr sz="1600" dirty="0" err="1"/>
              <a:t>Вопрос</a:t>
            </a:r>
            <a:r>
              <a:rPr sz="1600" dirty="0"/>
              <a:t> 3: </a:t>
            </a:r>
            <a:r>
              <a:rPr sz="1600" dirty="0" err="1"/>
              <a:t>Сравнительный</a:t>
            </a:r>
            <a:r>
              <a:rPr sz="1600" dirty="0"/>
              <a:t> </a:t>
            </a:r>
            <a:r>
              <a:rPr sz="1600" dirty="0" err="1"/>
              <a:t>анализ</a:t>
            </a:r>
            <a:r>
              <a:rPr sz="1600" dirty="0"/>
              <a:t> </a:t>
            </a:r>
            <a:r>
              <a:rPr sz="1600" dirty="0" err="1"/>
              <a:t>международных</a:t>
            </a:r>
            <a:r>
              <a:rPr sz="1600" dirty="0"/>
              <a:t> </a:t>
            </a:r>
            <a:r>
              <a:rPr sz="1600" dirty="0" err="1"/>
              <a:t>стандартов</a:t>
            </a:r>
            <a:r>
              <a:rPr sz="1600" dirty="0"/>
              <a:t> SRS и </a:t>
            </a:r>
            <a:r>
              <a:rPr sz="1600" dirty="0" err="1"/>
              <a:t>отечественных</a:t>
            </a:r>
            <a:r>
              <a:rPr sz="1600" dirty="0"/>
              <a:t> ТЗ (ГОСТ)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rPr sz="1600" dirty="0"/>
              <a:t>•  </a:t>
            </a:r>
            <a:r>
              <a:rPr sz="1600" dirty="0" err="1"/>
              <a:t>Вопрос</a:t>
            </a:r>
            <a:r>
              <a:rPr sz="1600" dirty="0"/>
              <a:t> 4: </a:t>
            </a:r>
            <a:r>
              <a:rPr sz="1600" dirty="0" err="1"/>
              <a:t>Практический</a:t>
            </a:r>
            <a:r>
              <a:rPr sz="1600" dirty="0"/>
              <a:t> </a:t>
            </a:r>
            <a:r>
              <a:rPr sz="1600" dirty="0" err="1"/>
              <a:t>кейс</a:t>
            </a:r>
            <a:r>
              <a:rPr sz="1600" dirty="0"/>
              <a:t>: </a:t>
            </a:r>
            <a:r>
              <a:rPr sz="1600" dirty="0" err="1"/>
              <a:t>Спецификация</a:t>
            </a:r>
            <a:r>
              <a:rPr sz="1600" dirty="0"/>
              <a:t> </a:t>
            </a:r>
            <a:r>
              <a:rPr sz="1600" dirty="0" err="1"/>
              <a:t>требований</a:t>
            </a:r>
            <a:r>
              <a:rPr sz="1600" dirty="0"/>
              <a:t> </a:t>
            </a:r>
            <a:r>
              <a:rPr sz="1600" dirty="0" err="1"/>
              <a:t>веб-сервиса</a:t>
            </a:r>
            <a:r>
              <a:rPr sz="1600" dirty="0"/>
              <a:t> «Flow Translate»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rPr sz="1600" dirty="0"/>
              <a:t>•  </a:t>
            </a:r>
            <a:r>
              <a:rPr sz="1600" dirty="0" err="1"/>
              <a:t>Вопрос</a:t>
            </a:r>
            <a:r>
              <a:rPr sz="1600" dirty="0"/>
              <a:t> 5 (</a:t>
            </a:r>
            <a:r>
              <a:rPr sz="1600" dirty="0" err="1"/>
              <a:t>Специальный</a:t>
            </a:r>
            <a:r>
              <a:rPr sz="1600" dirty="0"/>
              <a:t>): </a:t>
            </a:r>
            <a:r>
              <a:rPr sz="1600" dirty="0" err="1"/>
              <a:t>Трансформация</a:t>
            </a:r>
            <a:r>
              <a:rPr sz="1600" dirty="0"/>
              <a:t> </a:t>
            </a:r>
            <a:r>
              <a:rPr sz="1600" dirty="0" err="1"/>
              <a:t>спецификации</a:t>
            </a:r>
            <a:r>
              <a:rPr sz="1600" dirty="0"/>
              <a:t> </a:t>
            </a:r>
            <a:r>
              <a:rPr sz="1600" dirty="0" err="1"/>
              <a:t>требований</a:t>
            </a:r>
            <a:r>
              <a:rPr sz="1600" dirty="0"/>
              <a:t> в </a:t>
            </a:r>
            <a:r>
              <a:rPr sz="1600" dirty="0" err="1"/>
              <a:t>приемочные</a:t>
            </a:r>
            <a:r>
              <a:rPr sz="1600" dirty="0"/>
              <a:t> </a:t>
            </a:r>
            <a:r>
              <a:rPr sz="1600" dirty="0" err="1"/>
              <a:t>автотесты</a:t>
            </a: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ТЕМА: СПЕЦИФИКАЦИЯ ТРЕБОВАНИЙ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A17"/>
                </a:solidFill>
              </a:defRPr>
            </a:pPr>
            <a:r>
              <a:t>1. Что такое спецификация требований к ПО?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C1A17"/>
                </a:solidFill>
              </a:defRPr>
            </a:pPr>
            <a:r>
              <a:t>Определение и назначение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Формальный структурированный документ, описывающий назначение, функционал и рамки разрабатываемого ПО.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Выступает инженерным и юридическим контрактом между заказчиком, аналитиками, разработчиками и QA.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Служит единственным источником истины (Single Source of Truth) при проектировании архитектуры системы.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C1A17"/>
                </a:solidFill>
              </a:defRPr>
            </a:pPr>
            <a:r>
              <a:t>Критерии качества (ISO/IEC/IEEE 29148)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Атомарность: каждое требование описывает ровно одну неделимую функцию.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Однозначность: исключение возможности двоякой интерпретации командой.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Проверяемость (Testability): возможность однозначно подтвердить факт реализации через автотест.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Трассируемость: связь требований с целями бизнеса и сценариями тестирования.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ТЕМА: СПЕЦИФИКАЦИЯ ТРЕБОВАНИЙ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A17"/>
                </a:solidFill>
              </a:defRPr>
            </a:pPr>
            <a:r>
              <a:t>2. Иерархия и типология требований к ПО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C1A17"/>
                </a:solidFill>
              </a:defRPr>
            </a:pPr>
            <a:r>
              <a:t>Бизнес и функциональный уровни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Бизнес-требования: высокоуровневые цели организации и обоснование окупаемости инвестиций (ROI).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Пользовательские требования: сценарии и задачи пользователя (User Stories, Use Cases).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Функциональные требования (FR): точное алгоритмическое поведение системы («вход ➔ обработка ➔ выход»).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C1A17"/>
                </a:solidFill>
              </a:defRPr>
            </a:pPr>
            <a:r>
              <a:t>Нефункциональные требования (NFR)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Производительность (Performance): максимальное время отклика API (&lt; 500 мс).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Безопасность (Security): стойкое хэширование паролей, защита данных, stateless JWT.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Отказоустойчивость (Reliability): глобальная изоляция и корректная обработка сбоев (RFC 7807).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Удобство использования (UX/UI): адаптивность, темы оформления, доступность.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ТЕМА: СПЕЦИФИКАЦИЯ ТРЕБОВАНИЙ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A17"/>
                </a:solidFill>
              </a:defRPr>
            </a:pPr>
            <a:r>
              <a:t>3. Разница между SRS и ТЗ: Концептуальные отличия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C1A17"/>
                </a:solidFill>
              </a:defRPr>
            </a:pPr>
            <a:r>
              <a:t>SRS (Software Requirements Spec)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Стандарт: ISO/IEC/IEEE 29148 (ранее IEEE 830).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Ориентация: Продукт, архитектура, конечный пользователь.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Стиль: Гибкий инженерный документ для команд разработки (Agile, Scrum).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Версионирование: Эволюционирует вместе с кодом в репозитории через Change Requests.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C1A17"/>
                </a:solidFill>
              </a:defRPr>
            </a:pPr>
            <a:r>
              <a:t>ТЗ (Техническое задание по ГОСТ)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Стандарт: ГОСТ 34.602-89 (АСУ) или ГОСТ 19.201-78 (ЕСПД).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Ориентация: Комплексная система, регламент поставки, юридическая фиксация.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Стиль: Строгий канцелярит с разделами по приёмке, стадиям и гарантиям.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Юридический статус: Основа для актов приемки-передачи и судебных экспертиз.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ТЕМА: СПЕЦИФИКАЦИЯ ТРЕБОВАНИЙ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A17"/>
                </a:solidFill>
              </a:defRPr>
            </a:pPr>
            <a:r>
              <a:t>3. Сравнительная матрица: SRS vs ТЗ ГОСТ 34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Критерий сравнения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SRS (ISO/IEC/IEEE 29148)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ТЗ (ГОСТ 34.602-89)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A17"/>
                          </a:solidFill>
                        </a:defRPr>
                      </a:pPr>
                      <a:r>
                        <a:t>Целевая аудитория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A17"/>
                          </a:solidFill>
                        </a:defRPr>
                      </a:pPr>
                      <a:r>
                        <a:t>Разработчики, тестировщики, Product Owner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A17"/>
                          </a:solidFill>
                        </a:defRPr>
                      </a:pPr>
                      <a:r>
                        <a:t>Госзаказчики, юристы, приемочная комиссия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A17"/>
                          </a:solidFill>
                        </a:defRPr>
                      </a:pPr>
                      <a:r>
                        <a:t>Регламент правок</a:t>
                      </a:r>
                    </a:p>
                  </a:txBody>
                  <a:tcPr>
                    <a:solidFill>
                      <a:srgbClr val="F0E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A17"/>
                          </a:solidFill>
                        </a:defRPr>
                      </a:pPr>
                      <a:r>
                        <a:t>Быстрые итерации по бэклогу (Agile/Sprint)</a:t>
                      </a:r>
                    </a:p>
                  </a:txBody>
                  <a:tcPr>
                    <a:solidFill>
                      <a:srgbClr val="F0E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A17"/>
                          </a:solidFill>
                        </a:defRPr>
                      </a:pPr>
                      <a:r>
                        <a:t>Тяжелая процедура доп. соглашений к договору</a:t>
                      </a:r>
                    </a:p>
                  </a:txBody>
                  <a:tcPr>
                    <a:solidFill>
                      <a:srgbClr val="F0E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A17"/>
                          </a:solidFill>
                        </a:defRPr>
                      </a:pPr>
                      <a:r>
                        <a:t>Описание архитектуры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A17"/>
                          </a:solidFill>
                        </a:defRPr>
                      </a:pPr>
                      <a:r>
                        <a:t>Спецификация API, схемы БД, ER-диаграммы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A17"/>
                          </a:solidFill>
                        </a:defRPr>
                      </a:pPr>
                      <a:r>
                        <a:t>Спецификация КТС, состав технических средств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A17"/>
                          </a:solidFill>
                        </a:defRPr>
                      </a:pPr>
                      <a:r>
                        <a:t>Процедура сдачи</a:t>
                      </a:r>
                    </a:p>
                  </a:txBody>
                  <a:tcPr>
                    <a:solidFill>
                      <a:srgbClr val="F0E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A17"/>
                          </a:solidFill>
                        </a:defRPr>
                      </a:pPr>
                      <a:r>
                        <a:t>Автотесты, критерии приемки (Definition of Done)</a:t>
                      </a:r>
                    </a:p>
                  </a:txBody>
                  <a:tcPr>
                    <a:solidFill>
                      <a:srgbClr val="F0E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A17"/>
                          </a:solidFill>
                        </a:defRPr>
                      </a:pPr>
                      <a:r>
                        <a:t>ПМИ (Программа и методики испытаний), подписание акта</a:t>
                      </a:r>
                    </a:p>
                  </a:txBody>
                  <a:tcPr>
                    <a:solidFill>
                      <a:srgbClr val="F0E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ТЕМА: СПЕЦИФИКАЦИЯ ТРЕБОВАНИЙ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A17"/>
                </a:solidFill>
              </a:defRPr>
            </a:pPr>
            <a:r>
              <a:t>4. Практический кейс: Спецификация «Flow Translate»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C1A17"/>
                </a:solidFill>
              </a:defRPr>
            </a:pPr>
            <a:r>
              <a:rPr dirty="0" err="1"/>
              <a:t>Цели</a:t>
            </a:r>
            <a:r>
              <a:rPr dirty="0"/>
              <a:t> и </a:t>
            </a:r>
            <a:r>
              <a:rPr dirty="0" err="1"/>
              <a:t>скоуп</a:t>
            </a:r>
            <a:r>
              <a:rPr dirty="0"/>
              <a:t> </a:t>
            </a:r>
            <a:r>
              <a:rPr dirty="0" err="1"/>
              <a:t>проекта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rPr dirty="0"/>
              <a:t>• 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сервиса</a:t>
            </a:r>
            <a:r>
              <a:rPr dirty="0"/>
              <a:t>: </a:t>
            </a:r>
            <a:r>
              <a:rPr dirty="0" err="1"/>
              <a:t>Интеллектуальный</a:t>
            </a:r>
            <a:r>
              <a:rPr dirty="0"/>
              <a:t> </a:t>
            </a:r>
            <a:r>
              <a:rPr dirty="0" err="1"/>
              <a:t>мультиязычный</a:t>
            </a:r>
            <a:r>
              <a:rPr dirty="0"/>
              <a:t> </a:t>
            </a:r>
            <a:r>
              <a:rPr dirty="0" err="1"/>
              <a:t>перевод</a:t>
            </a:r>
            <a:r>
              <a:rPr dirty="0"/>
              <a:t> </a:t>
            </a:r>
            <a:r>
              <a:rPr dirty="0" err="1"/>
              <a:t>текста</a:t>
            </a:r>
            <a:r>
              <a:rPr dirty="0"/>
              <a:t> с </a:t>
            </a:r>
            <a:r>
              <a:rPr dirty="0" err="1"/>
              <a:t>ведением</a:t>
            </a:r>
            <a:r>
              <a:rPr dirty="0"/>
              <a:t> </a:t>
            </a:r>
            <a:r>
              <a:rPr dirty="0" err="1"/>
              <a:t>персонального</a:t>
            </a:r>
            <a:r>
              <a:rPr dirty="0"/>
              <a:t> </a:t>
            </a:r>
            <a:r>
              <a:rPr dirty="0" err="1"/>
              <a:t>словаря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rPr dirty="0"/>
              <a:t>•  </a:t>
            </a:r>
            <a:r>
              <a:rPr dirty="0" err="1"/>
              <a:t>Поддерживаемые</a:t>
            </a:r>
            <a:r>
              <a:rPr dirty="0"/>
              <a:t> </a:t>
            </a:r>
            <a:r>
              <a:rPr dirty="0" err="1"/>
              <a:t>языки</a:t>
            </a:r>
            <a:r>
              <a:rPr dirty="0"/>
              <a:t>: 4 </a:t>
            </a:r>
            <a:r>
              <a:rPr dirty="0" err="1"/>
              <a:t>базовых</a:t>
            </a:r>
            <a:r>
              <a:rPr dirty="0"/>
              <a:t> </a:t>
            </a:r>
            <a:r>
              <a:rPr dirty="0" err="1"/>
              <a:t>языка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русский</a:t>
            </a:r>
            <a:r>
              <a:rPr dirty="0"/>
              <a:t>, </a:t>
            </a:r>
            <a:r>
              <a:rPr dirty="0" err="1"/>
              <a:t>английский</a:t>
            </a:r>
            <a:r>
              <a:rPr dirty="0"/>
              <a:t>, </a:t>
            </a:r>
            <a:r>
              <a:rPr dirty="0" err="1"/>
              <a:t>немецкий</a:t>
            </a:r>
            <a:r>
              <a:rPr dirty="0"/>
              <a:t>, </a:t>
            </a:r>
            <a:r>
              <a:rPr dirty="0" err="1"/>
              <a:t>испанский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rPr dirty="0"/>
              <a:t>•  </a:t>
            </a:r>
            <a:r>
              <a:rPr dirty="0" err="1"/>
              <a:t>Ролевой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: Пользователь (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своими</a:t>
            </a:r>
            <a:r>
              <a:rPr dirty="0"/>
              <a:t> </a:t>
            </a:r>
            <a:r>
              <a:rPr dirty="0" err="1"/>
              <a:t>словами</a:t>
            </a:r>
            <a:r>
              <a:rPr dirty="0"/>
              <a:t>) и </a:t>
            </a:r>
            <a:r>
              <a:rPr dirty="0" err="1"/>
              <a:t>Администратор</a:t>
            </a:r>
            <a:r>
              <a:rPr dirty="0"/>
              <a:t> (</a:t>
            </a:r>
            <a:r>
              <a:rPr dirty="0" err="1"/>
              <a:t>аудит</a:t>
            </a:r>
            <a:r>
              <a:rPr dirty="0"/>
              <a:t> и </a:t>
            </a:r>
            <a:r>
              <a:rPr dirty="0" err="1"/>
              <a:t>блокировка</a:t>
            </a:r>
            <a:r>
              <a:rPr dirty="0"/>
              <a:t> </a:t>
            </a:r>
            <a:r>
              <a:rPr dirty="0" err="1"/>
              <a:t>аккаунтов</a:t>
            </a:r>
            <a:r>
              <a:rPr dirty="0"/>
              <a:t>).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rPr dirty="0"/>
              <a:t>•  </a:t>
            </a:r>
            <a:r>
              <a:rPr dirty="0" err="1"/>
              <a:t>Архитектурный</a:t>
            </a:r>
            <a:r>
              <a:rPr dirty="0"/>
              <a:t> </a:t>
            </a:r>
            <a:r>
              <a:rPr dirty="0" err="1"/>
              <a:t>шаблон</a:t>
            </a:r>
            <a:r>
              <a:rPr dirty="0"/>
              <a:t>: </a:t>
            </a:r>
            <a:r>
              <a:rPr dirty="0" err="1"/>
              <a:t>Клиент-серверный</a:t>
            </a:r>
            <a:r>
              <a:rPr dirty="0"/>
              <a:t> SPA (Single Page Application) с REST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C1A17"/>
                </a:solidFill>
              </a:defRPr>
            </a:pPr>
            <a:r>
              <a:t>Платформенные ограничения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Backend: Python 3.10+, FastAPI (асинхронная обработка I/O операций).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СУБД: PostgreSQL 16 в изолированном контейнере Docker Compose.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ORM: SQLAlchemy 2.0 (asyncpg) с автоматическими миграциями схемы.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Frontend: React + Tailwind CSS с поддержкой компонентной архитектуры.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Безопасность: Хэширование паролей bcrypt, авторизация по токенам JWT (HS256).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ТЕМА: СПЕЦИФИКАЦИЯ ТРЕБОВАНИЙ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A17"/>
                </a:solidFill>
              </a:defRPr>
            </a:pPr>
            <a:r>
              <a:t>4. Функциональные требования Flow Translate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C1A17"/>
                </a:solidFill>
              </a:defRPr>
            </a:pPr>
            <a:r>
              <a:t>Модуль перевода текста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FR-1 (Перевод): Асинхронная интеграция с внешним сервисом MyMemory с ограничением языковых пар.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FR-2 (Debounce-интерфейс): Автоматический запуск перевода при паузе ввода в 500 мс.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FR-3 (Фаза 5 ТЗ): Проверка факта наличия переводимого слова в словаре пользователя прямо во время запроса.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C1A17"/>
                </a:solidFill>
              </a:defRPr>
            </a:pPr>
            <a:r>
              <a:t>Модуль словаря и категорий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FR-4 (Правило дубликатов): Повторное сохранение слова обновляет метку времени updated_at (UPSERT), не создавая дубликат.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FR-5 (Пагинация): Строго 10 записей на страницу (page_size=10) для исключения перегрузки клиента.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FR-6 (Категоризация): Полный CRUD тегов и карточек с привязкой по внешнему ключу FK и каскадами.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ТЕМА: СПЕЦИФИКАЦИЯ ТРЕБОВАНИЙ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A17"/>
                </a:solidFill>
              </a:defRPr>
            </a:pPr>
            <a:r>
              <a:t>4. Нефункциональные требования Flow Translate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1928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C1A17"/>
                </a:solidFill>
              </a:defRPr>
            </a:pPr>
            <a:r>
              <a:rPr dirty="0" err="1"/>
              <a:t>Безопасность</a:t>
            </a:r>
            <a:r>
              <a:rPr dirty="0"/>
              <a:t> и </a:t>
            </a:r>
            <a:r>
              <a:rPr dirty="0" err="1"/>
              <a:t>отказоустойчивость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rPr dirty="0"/>
              <a:t>•  NFR-1: </a:t>
            </a:r>
            <a:r>
              <a:rPr dirty="0" err="1"/>
              <a:t>Безопасное</a:t>
            </a:r>
            <a:r>
              <a:rPr dirty="0"/>
              <a:t> </a:t>
            </a:r>
            <a:r>
              <a:rPr dirty="0" err="1"/>
              <a:t>хранение</a:t>
            </a:r>
            <a:r>
              <a:rPr dirty="0"/>
              <a:t> </a:t>
            </a:r>
            <a:r>
              <a:rPr dirty="0" err="1"/>
              <a:t>паролей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хэширование</a:t>
            </a:r>
            <a:r>
              <a:rPr dirty="0"/>
              <a:t> </a:t>
            </a:r>
            <a:r>
              <a:rPr dirty="0" err="1"/>
              <a:t>bcrypt</a:t>
            </a:r>
            <a:r>
              <a:rPr dirty="0"/>
              <a:t> </a:t>
            </a:r>
            <a:r>
              <a:rPr dirty="0" err="1"/>
              <a:t>со</a:t>
            </a:r>
            <a:r>
              <a:rPr dirty="0"/>
              <a:t> </a:t>
            </a:r>
            <a:r>
              <a:rPr dirty="0" err="1"/>
              <a:t>срезом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72 </a:t>
            </a:r>
            <a:r>
              <a:rPr dirty="0" err="1"/>
              <a:t>байт</a:t>
            </a:r>
            <a:r>
              <a:rPr dirty="0"/>
              <a:t> (</a:t>
            </a:r>
            <a:r>
              <a:rPr dirty="0" err="1"/>
              <a:t>защита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краха</a:t>
            </a:r>
            <a:r>
              <a:rPr dirty="0"/>
              <a:t> </a:t>
            </a:r>
            <a:r>
              <a:rPr dirty="0" err="1"/>
              <a:t>библиотеки</a:t>
            </a:r>
            <a:r>
              <a:rPr dirty="0"/>
              <a:t>).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rPr dirty="0"/>
              <a:t>•  NFR-2: </a:t>
            </a:r>
            <a:r>
              <a:rPr dirty="0" err="1"/>
              <a:t>Двухфакторная</a:t>
            </a:r>
            <a:r>
              <a:rPr dirty="0"/>
              <a:t> </a:t>
            </a:r>
            <a:r>
              <a:rPr dirty="0" err="1"/>
              <a:t>активация</a:t>
            </a:r>
            <a:r>
              <a:rPr dirty="0"/>
              <a:t> </a:t>
            </a:r>
            <a:r>
              <a:rPr dirty="0" err="1"/>
              <a:t>учетной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отправка</a:t>
            </a:r>
            <a:r>
              <a:rPr dirty="0"/>
              <a:t> 6-значного </a:t>
            </a:r>
            <a:r>
              <a:rPr dirty="0" err="1"/>
              <a:t>токена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SMTP.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rPr dirty="0"/>
              <a:t>•  NFR-3: </a:t>
            </a:r>
            <a:r>
              <a:rPr dirty="0" err="1"/>
              <a:t>Аудит</a:t>
            </a:r>
            <a:r>
              <a:rPr dirty="0"/>
              <a:t> </a:t>
            </a:r>
            <a:r>
              <a:rPr dirty="0" err="1"/>
              <a:t>безопасности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логирование</a:t>
            </a:r>
            <a:r>
              <a:rPr dirty="0"/>
              <a:t> </a:t>
            </a:r>
            <a:r>
              <a:rPr dirty="0" err="1"/>
              <a:t>попыток</a:t>
            </a:r>
            <a:r>
              <a:rPr dirty="0"/>
              <a:t> </a:t>
            </a:r>
            <a:r>
              <a:rPr dirty="0" err="1"/>
              <a:t>входа</a:t>
            </a:r>
            <a:r>
              <a:rPr dirty="0"/>
              <a:t> </a:t>
            </a:r>
            <a:r>
              <a:rPr dirty="0" err="1"/>
              <a:t>строго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сохранения</a:t>
            </a:r>
            <a:r>
              <a:rPr dirty="0"/>
              <a:t> </a:t>
            </a:r>
            <a:r>
              <a:rPr dirty="0" err="1"/>
              <a:t>паролей</a:t>
            </a:r>
            <a:r>
              <a:rPr dirty="0"/>
              <a:t> в </a:t>
            </a:r>
            <a:r>
              <a:rPr dirty="0" err="1"/>
              <a:t>открытом</a:t>
            </a:r>
            <a:r>
              <a:rPr dirty="0"/>
              <a:t> </a:t>
            </a:r>
            <a:r>
              <a:rPr dirty="0" err="1"/>
              <a:t>виде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572000" cy="1928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C1A17"/>
                </a:solidFill>
              </a:defRPr>
            </a:pPr>
            <a:r>
              <a:rPr dirty="0" err="1"/>
              <a:t>Интерфейс</a:t>
            </a:r>
            <a:r>
              <a:rPr dirty="0"/>
              <a:t> и </a:t>
            </a:r>
            <a:r>
              <a:rPr dirty="0" err="1"/>
              <a:t>стандарты</a:t>
            </a:r>
            <a:r>
              <a:rPr dirty="0"/>
              <a:t> </a:t>
            </a:r>
            <a:r>
              <a:rPr dirty="0" err="1"/>
              <a:t>ответа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rPr dirty="0"/>
              <a:t>•  NFR-4: </a:t>
            </a:r>
            <a:r>
              <a:rPr dirty="0" err="1"/>
              <a:t>Обработка</a:t>
            </a:r>
            <a:r>
              <a:rPr dirty="0"/>
              <a:t> ВСЕХ </a:t>
            </a:r>
            <a:r>
              <a:rPr dirty="0" err="1"/>
              <a:t>исключений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глобальные</a:t>
            </a:r>
            <a:r>
              <a:rPr dirty="0"/>
              <a:t> </a:t>
            </a:r>
            <a:r>
              <a:rPr dirty="0" err="1"/>
              <a:t>перехватчики</a:t>
            </a:r>
            <a:r>
              <a:rPr dirty="0"/>
              <a:t> 422 и 500 </a:t>
            </a:r>
            <a:r>
              <a:rPr dirty="0" err="1"/>
              <a:t>ошибок</a:t>
            </a:r>
            <a:r>
              <a:rPr dirty="0"/>
              <a:t> в </a:t>
            </a:r>
            <a:r>
              <a:rPr dirty="0" err="1"/>
              <a:t>формате</a:t>
            </a:r>
            <a:r>
              <a:rPr dirty="0"/>
              <a:t> RFC 7807.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rPr dirty="0"/>
              <a:t>•  NFR-5: </a:t>
            </a:r>
            <a:r>
              <a:rPr dirty="0" err="1"/>
              <a:t>Персистентность</a:t>
            </a:r>
            <a:r>
              <a:rPr dirty="0"/>
              <a:t> </a:t>
            </a:r>
            <a:r>
              <a:rPr dirty="0" err="1"/>
              <a:t>тем</a:t>
            </a:r>
            <a:r>
              <a:rPr dirty="0"/>
              <a:t> </a:t>
            </a:r>
            <a:r>
              <a:rPr dirty="0" err="1"/>
              <a:t>оформления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сохранение</a:t>
            </a:r>
            <a:r>
              <a:rPr dirty="0"/>
              <a:t> </a:t>
            </a:r>
            <a:r>
              <a:rPr dirty="0" err="1"/>
              <a:t>выбора</a:t>
            </a:r>
            <a:r>
              <a:rPr dirty="0"/>
              <a:t> </a:t>
            </a:r>
            <a:r>
              <a:rPr dirty="0" err="1"/>
              <a:t>темы</a:t>
            </a:r>
            <a:r>
              <a:rPr dirty="0"/>
              <a:t> (</a:t>
            </a:r>
            <a:r>
              <a:rPr dirty="0" err="1"/>
              <a:t>светлая</a:t>
            </a:r>
            <a:r>
              <a:rPr dirty="0"/>
              <a:t>/</a:t>
            </a:r>
            <a:r>
              <a:rPr dirty="0" err="1"/>
              <a:t>темная</a:t>
            </a:r>
            <a:r>
              <a:rPr dirty="0"/>
              <a:t>) в </a:t>
            </a:r>
            <a:r>
              <a:rPr dirty="0" err="1"/>
              <a:t>профиле</a:t>
            </a:r>
            <a:r>
              <a:rPr dirty="0"/>
              <a:t> БД.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rPr dirty="0"/>
              <a:t>•  NFR-6: </a:t>
            </a:r>
            <a:r>
              <a:rPr dirty="0" err="1"/>
              <a:t>Аудио-озвучивание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синтез</a:t>
            </a:r>
            <a:r>
              <a:rPr dirty="0"/>
              <a:t> </a:t>
            </a:r>
            <a:r>
              <a:rPr dirty="0" err="1"/>
              <a:t>речи</a:t>
            </a:r>
            <a:r>
              <a:rPr dirty="0"/>
              <a:t> </a:t>
            </a:r>
            <a:r>
              <a:rPr dirty="0" err="1"/>
              <a:t>произношения</a:t>
            </a:r>
            <a:r>
              <a:rPr dirty="0"/>
              <a:t> </a:t>
            </a:r>
            <a:r>
              <a:rPr dirty="0" err="1"/>
              <a:t>карточек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Web Speech API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задержек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ТЕМА: СПЕЦИФИКАЦИЯ ТРЕБОВАНИЙ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A17"/>
                </a:solidFill>
              </a:defRPr>
            </a:pPr>
            <a:r>
              <a:t>5. Исследовательский вопрос студента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C1A17"/>
                </a:solidFill>
              </a:defRPr>
            </a:pPr>
            <a:r>
              <a:t>Трансформация требований в тесты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Проблема: Несоответствие между текстом требований и реальным поведением программного кода.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Решение: Методология Specification-by-Example и приемочное тестирование (TDD).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Принцип: Каждое требование спецификации должно иметь проверяемый цифровой критерий приёмки.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C1A17"/>
                </a:solidFill>
              </a:defRPr>
            </a:pPr>
            <a:r>
              <a:t>Реализация в Flow Translate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Требование: «Пароль от 8 знаков с цифрой и заглавной буквой» ➔ pytest тест валидатора UserRegister.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Требование: «Разрешены только языки RU, EN, DE, ES» ➔ pytest тест ограничений TranslateRequest.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Требование: «Изоляция пользователей словаря» ➔ Интеграционный тест доступа с чужим JWT-токеном (HTTP 404/403).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t>•  Итог: Набор из 3+ автоматических тестов гарантирует соблюдение спецификации на 100%.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ТЕМА: СПЕЦИФИКАЦИЯ ТРЕБОВАНИЙ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A17"/>
                </a:solidFill>
              </a:defRPr>
            </a:pPr>
            <a:r>
              <a:t>Заключение и выводы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2328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C1A17"/>
                </a:solidFill>
              </a:defRPr>
            </a:pPr>
            <a:r>
              <a:rPr dirty="0" err="1"/>
              <a:t>Теоретические</a:t>
            </a:r>
            <a:r>
              <a:rPr dirty="0"/>
              <a:t> </a:t>
            </a:r>
            <a:r>
              <a:rPr dirty="0" err="1"/>
              <a:t>выводы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rPr dirty="0"/>
              <a:t>•  </a:t>
            </a:r>
            <a:r>
              <a:rPr dirty="0" err="1"/>
              <a:t>Спецификация</a:t>
            </a:r>
            <a:r>
              <a:rPr dirty="0"/>
              <a:t> </a:t>
            </a:r>
            <a:r>
              <a:rPr dirty="0" err="1"/>
              <a:t>требований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ключевой</a:t>
            </a:r>
            <a:r>
              <a:rPr dirty="0"/>
              <a:t> </a:t>
            </a:r>
            <a:r>
              <a:rPr dirty="0" err="1"/>
              <a:t>фактор</a:t>
            </a:r>
            <a:r>
              <a:rPr dirty="0"/>
              <a:t> </a:t>
            </a:r>
            <a:r>
              <a:rPr dirty="0" err="1"/>
              <a:t>управляемости</a:t>
            </a:r>
            <a:r>
              <a:rPr dirty="0"/>
              <a:t>, </a:t>
            </a:r>
            <a:r>
              <a:rPr dirty="0" err="1"/>
              <a:t>предсказуемости</a:t>
            </a:r>
            <a:r>
              <a:rPr dirty="0"/>
              <a:t> </a:t>
            </a:r>
            <a:r>
              <a:rPr dirty="0" err="1"/>
              <a:t>сроков</a:t>
            </a:r>
            <a:r>
              <a:rPr dirty="0"/>
              <a:t> и </a:t>
            </a:r>
            <a:r>
              <a:rPr dirty="0" err="1"/>
              <a:t>бюджета</a:t>
            </a:r>
            <a:r>
              <a:rPr dirty="0"/>
              <a:t> </a:t>
            </a:r>
            <a:r>
              <a:rPr dirty="0" err="1"/>
              <a:t>разработки</a:t>
            </a:r>
            <a:r>
              <a:rPr dirty="0"/>
              <a:t> ПО.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rPr dirty="0"/>
              <a:t>•  </a:t>
            </a: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стандарта</a:t>
            </a:r>
            <a:r>
              <a:rPr dirty="0"/>
              <a:t> (SRS vs ТЗ ГОСТ) </a:t>
            </a:r>
            <a:r>
              <a:rPr dirty="0" err="1"/>
              <a:t>определяется</a:t>
            </a:r>
            <a:r>
              <a:rPr dirty="0"/>
              <a:t> </a:t>
            </a:r>
            <a:r>
              <a:rPr dirty="0" err="1"/>
              <a:t>спецификой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: </a:t>
            </a:r>
            <a:r>
              <a:rPr dirty="0" err="1"/>
              <a:t>гибкий</a:t>
            </a:r>
            <a:r>
              <a:rPr dirty="0"/>
              <a:t> </a:t>
            </a:r>
            <a:r>
              <a:rPr dirty="0" err="1"/>
              <a:t>продуктовый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либо</a:t>
            </a:r>
            <a:r>
              <a:rPr dirty="0"/>
              <a:t> </a:t>
            </a:r>
            <a:r>
              <a:rPr dirty="0" err="1"/>
              <a:t>строгий</a:t>
            </a:r>
            <a:r>
              <a:rPr dirty="0"/>
              <a:t> </a:t>
            </a:r>
            <a:r>
              <a:rPr dirty="0" err="1"/>
              <a:t>контракт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rPr dirty="0"/>
              <a:t>•  </a:t>
            </a:r>
            <a:r>
              <a:rPr dirty="0" err="1"/>
              <a:t>Полнота</a:t>
            </a:r>
            <a:r>
              <a:rPr dirty="0"/>
              <a:t> </a:t>
            </a:r>
            <a:r>
              <a:rPr dirty="0" err="1"/>
              <a:t>описания</a:t>
            </a:r>
            <a:r>
              <a:rPr dirty="0"/>
              <a:t> </a:t>
            </a:r>
            <a:r>
              <a:rPr dirty="0" err="1"/>
              <a:t>нефункциональных</a:t>
            </a:r>
            <a:r>
              <a:rPr dirty="0"/>
              <a:t> </a:t>
            </a:r>
            <a:r>
              <a:rPr dirty="0" err="1"/>
              <a:t>требований</a:t>
            </a:r>
            <a:r>
              <a:rPr dirty="0"/>
              <a:t> (NFR) </a:t>
            </a:r>
            <a:r>
              <a:rPr dirty="0" err="1"/>
              <a:t>определяет</a:t>
            </a:r>
            <a:r>
              <a:rPr dirty="0"/>
              <a:t> </a:t>
            </a:r>
            <a:r>
              <a:rPr dirty="0" err="1"/>
              <a:t>стабильность</a:t>
            </a:r>
            <a:r>
              <a:rPr dirty="0"/>
              <a:t> и </a:t>
            </a:r>
            <a:r>
              <a:rPr dirty="0" err="1"/>
              <a:t>масштабируемость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572000" cy="162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C1A17"/>
                </a:solidFill>
              </a:defRPr>
            </a:pPr>
            <a:r>
              <a:rPr dirty="0" err="1"/>
              <a:t>Практический</a:t>
            </a:r>
            <a:r>
              <a:rPr dirty="0"/>
              <a:t> </a:t>
            </a:r>
            <a:r>
              <a:rPr dirty="0" err="1"/>
              <a:t>итог</a:t>
            </a:r>
            <a:r>
              <a:rPr dirty="0"/>
              <a:t> </a:t>
            </a:r>
            <a:r>
              <a:rPr dirty="0" err="1"/>
              <a:t>проекта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rPr dirty="0"/>
              <a:t>•  </a:t>
            </a:r>
            <a:r>
              <a:rPr dirty="0" err="1"/>
              <a:t>Проект</a:t>
            </a:r>
            <a:r>
              <a:rPr dirty="0"/>
              <a:t> Flow Translate </a:t>
            </a:r>
            <a:r>
              <a:rPr dirty="0" err="1"/>
              <a:t>подтвердил</a:t>
            </a:r>
            <a:r>
              <a:rPr dirty="0"/>
              <a:t>: </a:t>
            </a:r>
            <a:r>
              <a:rPr dirty="0" err="1"/>
              <a:t>детальная</a:t>
            </a:r>
            <a:r>
              <a:rPr dirty="0"/>
              <a:t> </a:t>
            </a:r>
            <a:r>
              <a:rPr dirty="0" err="1"/>
              <a:t>предварительная</a:t>
            </a:r>
            <a:r>
              <a:rPr dirty="0"/>
              <a:t> </a:t>
            </a:r>
            <a:r>
              <a:rPr dirty="0" err="1"/>
              <a:t>спецификация</a:t>
            </a:r>
            <a:r>
              <a:rPr dirty="0"/>
              <a:t> </a:t>
            </a:r>
            <a:r>
              <a:rPr dirty="0" err="1"/>
              <a:t>исключила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проектирования</a:t>
            </a:r>
            <a:r>
              <a:rPr dirty="0"/>
              <a:t> БД и API.</a:t>
            </a:r>
          </a:p>
          <a:p>
            <a:pPr>
              <a:spcAft>
                <a:spcPts val="800"/>
              </a:spcAft>
              <a:defRPr sz="1300">
                <a:solidFill>
                  <a:srgbClr val="736E66"/>
                </a:solidFill>
              </a:defRPr>
            </a:pPr>
            <a:r>
              <a:rPr dirty="0"/>
              <a:t>•  </a:t>
            </a:r>
            <a:r>
              <a:rPr dirty="0" err="1"/>
              <a:t>Все</a:t>
            </a:r>
            <a:r>
              <a:rPr dirty="0"/>
              <a:t> 20 </a:t>
            </a:r>
            <a:r>
              <a:rPr dirty="0" err="1"/>
              <a:t>критериев</a:t>
            </a:r>
            <a:r>
              <a:rPr dirty="0"/>
              <a:t> </a:t>
            </a:r>
            <a:r>
              <a:rPr dirty="0" err="1"/>
              <a:t>приёмки</a:t>
            </a:r>
            <a:r>
              <a:rPr dirty="0"/>
              <a:t> </a:t>
            </a:r>
            <a:r>
              <a:rPr dirty="0" err="1"/>
              <a:t>чек-листа</a:t>
            </a:r>
            <a:r>
              <a:rPr dirty="0"/>
              <a:t> и ТЗ </a:t>
            </a:r>
            <a:r>
              <a:rPr dirty="0" err="1"/>
              <a:t>были</a:t>
            </a:r>
            <a:r>
              <a:rPr dirty="0"/>
              <a:t> </a:t>
            </a:r>
            <a:r>
              <a:rPr dirty="0" err="1"/>
              <a:t>успешно</a:t>
            </a:r>
            <a:r>
              <a:rPr dirty="0"/>
              <a:t> </a:t>
            </a:r>
            <a:r>
              <a:rPr dirty="0" err="1"/>
              <a:t>реализованы</a:t>
            </a:r>
            <a:r>
              <a:rPr dirty="0"/>
              <a:t> и </a:t>
            </a:r>
            <a:r>
              <a:rPr dirty="0" err="1"/>
              <a:t>подтверждены</a:t>
            </a:r>
            <a:r>
              <a:rPr dirty="0"/>
              <a:t> </a:t>
            </a:r>
            <a:r>
              <a:rPr dirty="0" err="1"/>
              <a:t>автоматическими</a:t>
            </a:r>
            <a:r>
              <a:rPr dirty="0"/>
              <a:t> </a:t>
            </a:r>
            <a:r>
              <a:rPr dirty="0" err="1"/>
              <a:t>тестами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1201</Words>
  <Application>Microsoft Office PowerPoint</Application>
  <PresentationFormat>Широкоэкранный</PresentationFormat>
  <Paragraphs>117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Михаил Бондарчук</cp:lastModifiedBy>
  <cp:revision>2</cp:revision>
  <dcterms:created xsi:type="dcterms:W3CDTF">2013-01-27T09:14:16Z</dcterms:created>
  <dcterms:modified xsi:type="dcterms:W3CDTF">2026-09-10T06:03:53Z</dcterms:modified>
  <cp:category/>
</cp:coreProperties>
</file>